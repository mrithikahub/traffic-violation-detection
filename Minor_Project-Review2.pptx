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70" r:id="rId4"/>
    <p:sldId id="266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373" autoAdjust="0"/>
  </p:normalViewPr>
  <p:slideViewPr>
    <p:cSldViewPr snapToGrid="0">
      <p:cViewPr varScale="1">
        <p:scale>
          <a:sx n="72" d="100"/>
          <a:sy n="72" d="100"/>
        </p:scale>
        <p:origin x="107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E8D42-DD94-4742-8AA9-E8F313AF22AE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5413A-84EC-2944-A7DF-45CE7F374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Keep the opening under 20 seconds.</a:t>
            </a:r>
          </a:p>
          <a:p>
            <a:r>
              <a:rPr dirty="0"/>
              <a:t>State the project title, target user, and one-line purpose.</a:t>
            </a:r>
          </a:p>
          <a:p>
            <a:r>
              <a:rPr dirty="0"/>
              <a:t>[Sources]</a:t>
            </a:r>
          </a:p>
          <a:p>
            <a:r>
              <a:rPr dirty="0"/>
              <a:t>No external sources; instructional template content authored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member should speak during the review.</a:t>
            </a:r>
          </a:p>
          <a:p>
            <a:r>
              <a:t>Avoid vague labels such as 'coding' or 'documentation'; assign observable outputs.</a:t>
            </a:r>
          </a:p>
          <a:p>
            <a:r>
              <a:t>[Sources]</a:t>
            </a:r>
          </a:p>
          <a:p>
            <a:r>
              <a:t>No external sources; instructional template content authored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B4ED-1495-E54A-4BCA-5E713CAD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160A5-D7BA-BB23-A780-4D3E56BC9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4700F-FD41-FEBB-BCF4-1B249AFCF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member should speak during the review.</a:t>
            </a:r>
          </a:p>
          <a:p>
            <a:r>
              <a:t>Avoid vague labels such as 'coding' or 'documentation'; assign observable outputs.</a:t>
            </a:r>
          </a:p>
          <a:p>
            <a:r>
              <a:t>[Sources]</a:t>
            </a:r>
          </a:p>
          <a:p>
            <a:r>
              <a:t>No external sources; instructional template content authored for this deck.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3B5F5-21CA-DD40-40AA-99A489D917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8487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one artefact live only if it opens reliably in under 20 seconds.</a:t>
            </a:r>
          </a:p>
          <a:p>
            <a:r>
              <a:t>Screenshots are acceptable backup evidence for Review 1.</a:t>
            </a:r>
          </a:p>
          <a:p>
            <a:r>
              <a:t>[Sources]</a:t>
            </a:r>
          </a:p>
          <a:p>
            <a:r>
              <a:t>No external sources; instructional template content authored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Finish with specific commitments rather than a generic thank-you slide.</a:t>
            </a:r>
          </a:p>
          <a:p>
            <a:r>
              <a:t>Invite the panel to approve the scope and point out the highest-risk assumption.</a:t>
            </a:r>
          </a:p>
          <a:p>
            <a:r>
              <a:t>[Sources]</a:t>
            </a:r>
          </a:p>
          <a:p>
            <a:r>
              <a:t>No external sources; instructional template content authored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A34E-E98B-3D78-5BE6-7B23C928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DEDF0-3F45-E344-DA87-7A2DED263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C224C-8723-E1B1-BC54-69A3B07D3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Finish with specific commitments rather than a generic thank-you slide.</a:t>
            </a:r>
          </a:p>
          <a:p>
            <a:r>
              <a:rPr dirty="0"/>
              <a:t>Invite the panel to approve the scope and point out the highest-risk assumption.</a:t>
            </a:r>
          </a:p>
          <a:p>
            <a:r>
              <a:rPr dirty="0"/>
              <a:t>[Sources]</a:t>
            </a:r>
          </a:p>
          <a:p>
            <a:r>
              <a:rPr dirty="0"/>
              <a:t>No external sources; instructional template content authored for this deck.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8EE2C-462B-0744-E6E9-A24912B3F2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9456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0CF38-E364-1A66-8FE5-AB3BAFFFB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F0EC3-7B03-0EAC-96D7-99DC333B1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1076A-9B10-5844-F11F-81830A4F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D3B35-DD8A-AB04-5982-FFBB2471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2A1CB-CAF5-7EA0-662B-FCD9C987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2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3175-119B-0BD1-B10C-12C50F84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D816E-043A-2C0F-3263-74975F537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A0A5E-04E6-6C04-F4A2-D97A5692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456E0-43BE-A65D-8A6C-2EB68CF4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5E84-AD45-D4BB-06D4-DCCDA98B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1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7EAC-731B-CB8D-5EAF-9AF189131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CDEA1-D7BB-D4CB-0EAC-8D89AE2F6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9151D-228D-44CE-C2D6-B39DAA4B7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B85F9-BFDD-69DF-97E9-37E44B61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FAE79-52E9-E132-7BD3-F50284EB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02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93902-ABC8-8993-D01F-FA26165A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C622D-C3CE-ACC0-B21F-6AE5E0F8E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758AA-6AF4-B3A8-57C2-EEF5FB72D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F5701-28F4-C61B-614D-468A78940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CD92A-7334-7DD4-E500-43CD69AA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90653-B99C-DC0E-F302-1CFF3273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4E3F-CB17-A163-6DDC-7DE55B5EC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34594-4984-CB18-EEFF-2F8C4C5B9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F3613-B536-B831-C84F-BFACF9B21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E3A6D-38B3-B3F4-0EAE-FCC08D4E9C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E9E63-A107-3A6C-5624-69A447F9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9365A9-AEA3-184A-E29C-80D75564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454965-693A-C9CF-19F4-31E39C65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05E142-AA95-4862-34E9-67E0D261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7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9561-F968-117E-C2BA-BF357832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E37DA-EB1A-C3D2-A7CE-203C2C7F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6F7EE-0650-6DB9-B13A-8D4A44CF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7C81C-0069-0D90-5FDA-B8FC42DA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50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3E10E-034A-6B54-16BD-4B7790CA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19B89-3A86-9A15-8568-7625532E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BD3A9-AE8F-5852-A107-3FFF7EED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F347-DB46-E082-2F65-013D5060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BA649-D80B-6A01-7F26-338FEAEF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DF556-53DC-6CD4-688B-223319E02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991EA-EA10-9C1D-132D-2C262479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D6E6A-0CBE-557E-D299-B4B9191BD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F494E-1853-C8EF-EB36-EC316597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1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E001-90DC-3B13-3932-9B4CDA54E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13EA44-64FC-E59A-3FBA-772A463DCB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93958-5C2B-F55A-243A-4BF7206BA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FF768-87FD-A6A9-111A-F18C9350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56839-2AE4-506B-A5F2-D56452A23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EC079-DD23-8850-0C8A-7419C301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5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E87D-82D5-FEA1-D74C-F024200D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E7896-84C6-21AF-F124-5A2EF28AF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C036D-193D-5F4D-8AF3-CC64D78C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C6D3C-1E4E-CD05-1E0C-65771D27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75CF0-2764-6F7D-3E23-FE79F56C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4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CEA30-8369-D65A-A345-0B6938CAC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FF266-1C6D-32CE-4BCA-CA459C864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F057B-90AC-AEA4-F212-3CAC1F9B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55E9-FCB8-D281-0C9B-BAAD7B4C5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95ED1-9477-0717-E614-89AE2671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40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62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199F7-DB9D-B2B7-0490-F187F6AD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8EDCF-23D9-07B5-90CA-DC13BE5A4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F7653-346E-DBCC-6817-BFF940E83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FF931-D5D9-E24A-B23B-002BFB20CCA1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3120D-4A78-0425-1B13-03AF5DFDE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F1910-0096-007D-9A8D-6C169F5E9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F19D-BBE4-0B4F-AA37-C40A7AD16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5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D2F64D-102D-47D4-9519-6F9CFC494C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96FAC-3A2D-49C0-A45D-BB8115DD5809}"/>
              </a:ext>
            </a:extLst>
          </p:cNvPr>
          <p:cNvSpPr>
            <a:spLocks noGrp="1"/>
          </p:cNvSpPr>
          <p:nvPr/>
        </p:nvSpPr>
        <p:spPr>
          <a:xfrm>
            <a:off x="7334250" y="0"/>
            <a:ext cx="4857750" cy="68580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1242BEF-01AA-4BC8-A54B-A4BFFF0CC8A3}"/>
              </a:ext>
            </a:extLst>
          </p:cNvPr>
          <p:cNvSpPr>
            <a:spLocks noGrp="1"/>
          </p:cNvSpPr>
          <p:nvPr/>
        </p:nvSpPr>
        <p:spPr>
          <a:xfrm>
            <a:off x="7839075" y="981075"/>
            <a:ext cx="3143250" cy="3143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3F43401-F5EE-49EB-9263-527064607E21}"/>
              </a:ext>
            </a:extLst>
          </p:cNvPr>
          <p:cNvSpPr>
            <a:spLocks noGrp="1"/>
          </p:cNvSpPr>
          <p:nvPr/>
        </p:nvSpPr>
        <p:spPr>
          <a:xfrm>
            <a:off x="8753475" y="1914525"/>
            <a:ext cx="2190750" cy="2190750"/>
          </a:xfrm>
          <a:prstGeom prst="ellipse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0596E2-93BC-41C8-A153-205A6FBBA0AF}"/>
              </a:ext>
            </a:extLst>
          </p:cNvPr>
          <p:cNvSpPr>
            <a:spLocks noGrp="1"/>
          </p:cNvSpPr>
          <p:nvPr/>
        </p:nvSpPr>
        <p:spPr>
          <a:xfrm>
            <a:off x="9439275" y="2590800"/>
            <a:ext cx="1428750" cy="1428750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910976-9F18-4BE6-B922-5C9CA515B81B}"/>
              </a:ext>
            </a:extLst>
          </p:cNvPr>
          <p:cNvSpPr>
            <a:spLocks noGrp="1"/>
          </p:cNvSpPr>
          <p:nvPr/>
        </p:nvSpPr>
        <p:spPr>
          <a:xfrm>
            <a:off x="590550" y="609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96" lnSpcReduction="10000"/>
          </a:bodyPr>
          <a:lstStyle/>
          <a:p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MINOR PROJECT • REVIEW </a:t>
            </a:r>
            <a:r>
              <a:rPr lang="en-US" sz="127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  <a:endParaRPr sz="1275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E7584D-A62B-4E8F-B61A-5E9D0C11631B}"/>
              </a:ext>
            </a:extLst>
          </p:cNvPr>
          <p:cNvSpPr>
            <a:spLocks noGrp="1"/>
          </p:cNvSpPr>
          <p:nvPr/>
        </p:nvSpPr>
        <p:spPr>
          <a:xfrm>
            <a:off x="590550" y="1352549"/>
            <a:ext cx="6191250" cy="13418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lnSpcReduction="10000"/>
          </a:bodyPr>
          <a:lstStyle/>
          <a:p>
            <a:pPr>
              <a:defRPr sz="39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sz="2800" b="1" dirty="0">
                <a:solidFill>
                  <a:schemeClr val="accent2"/>
                </a:solidFill>
                <a:latin typeface="Aptos"/>
                <a:ea typeface="Aptos"/>
                <a:cs typeface="Aptos"/>
              </a:rPr>
              <a:t>AI-Based Intelligent  Vehicle  Monitoring and Traffic Violation Detection System</a:t>
            </a:r>
            <a:endParaRPr sz="2800" b="1" dirty="0">
              <a:solidFill>
                <a:schemeClr val="accent2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90550" y="3876675"/>
            <a:ext cx="1657350" cy="0"/>
          </a:xfrm>
          <a:prstGeom prst="straightConnector1">
            <a:avLst/>
          </a:prstGeom>
          <a:ln w="57150">
            <a:solidFill>
              <a:srgbClr val="38BDF8"/>
            </a:solidFill>
            <a:prstDash val="soli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F81692C-F417-4386-891D-5C9D64B02E3F}"/>
              </a:ext>
            </a:extLst>
          </p:cNvPr>
          <p:cNvSpPr>
            <a:spLocks noGrp="1"/>
          </p:cNvSpPr>
          <p:nvPr/>
        </p:nvSpPr>
        <p:spPr>
          <a:xfrm>
            <a:off x="590550" y="4267199"/>
            <a:ext cx="5905500" cy="17393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lnSpcReduction="10000"/>
          </a:bodyPr>
          <a:lstStyle/>
          <a:p>
            <a:pPr algn="l">
              <a:defRPr sz="142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425" b="1" i="1" dirty="0">
                <a:solidFill>
                  <a:srgbClr val="7030A0"/>
                </a:solidFill>
                <a:latin typeface="Aptos"/>
                <a:ea typeface="Aptos"/>
                <a:cs typeface="Aptos"/>
              </a:rPr>
              <a:t>Team: </a:t>
            </a:r>
            <a:r>
              <a:rPr lang="en-US" sz="1425" b="1" i="1" dirty="0">
                <a:solidFill>
                  <a:srgbClr val="7030A0"/>
                </a:solidFill>
                <a:latin typeface="Aptos"/>
                <a:ea typeface="Aptos"/>
                <a:cs typeface="Aptos"/>
              </a:rPr>
              <a:t>Tech Titans</a:t>
            </a:r>
          </a:p>
          <a:p>
            <a:pPr algn="l">
              <a:defRPr sz="142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lang="en-US" sz="1425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Members:    Ankit Aadarsh (RA2411003012098)</a:t>
            </a:r>
          </a:p>
          <a:p>
            <a:pPr>
              <a:defRPr sz="142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lang="en-US" sz="1425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	</a:t>
            </a:r>
            <a:r>
              <a:rPr lang="en-US" sz="1425" dirty="0" err="1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Mrithika</a:t>
            </a:r>
            <a:r>
              <a:rPr lang="en-US" sz="1425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K (RA2411003011614)</a:t>
            </a:r>
          </a:p>
          <a:p>
            <a:pPr>
              <a:defRPr sz="142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lang="en-US" sz="1425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	Sahil Prajapati (RA2411003012283)</a:t>
            </a:r>
          </a:p>
          <a:p>
            <a:pPr>
              <a:defRPr sz="142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lang="en-US" sz="1425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Mentors</a:t>
            </a:r>
            <a:r>
              <a:rPr sz="1425" b="0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: </a:t>
            </a:r>
            <a:r>
              <a:rPr lang="en-US" sz="1425" b="0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    </a:t>
            </a:r>
            <a:r>
              <a:rPr lang="en-IN" sz="1425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Dr. B. Sowmiya</a:t>
            </a:r>
          </a:p>
          <a:p>
            <a:pPr>
              <a:defRPr sz="142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lang="en-IN" sz="1425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	Dr. B. Ida seraphim</a:t>
            </a:r>
            <a:r>
              <a:rPr sz="1425" b="0" dirty="0">
                <a:solidFill>
                  <a:srgbClr val="00B0F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sz="1425" b="0" dirty="0">
                <a:solidFill>
                  <a:srgbClr val="00B0F0"/>
                </a:solidFill>
                <a:latin typeface="Aptos"/>
                <a:ea typeface="Aptos"/>
                <a:cs typeface="Aptos"/>
              </a:rPr>
              <a:t> </a:t>
            </a:r>
            <a:endParaRPr lang="en-US" sz="1425" b="0" dirty="0">
              <a:solidFill>
                <a:srgbClr val="00B0F0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endParaRPr lang="en-IN" sz="1425" b="0" dirty="0">
              <a:solidFill>
                <a:srgbClr val="536779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Date: </a:t>
            </a:r>
            <a:r>
              <a:rPr lang="en-US" sz="1425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14</a:t>
            </a:r>
            <a:r>
              <a:rPr sz="1425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25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Aug</a:t>
            </a:r>
            <a:r>
              <a:rPr sz="1425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25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2026</a:t>
            </a:r>
            <a:endParaRPr sz="1425" b="0" dirty="0">
              <a:solidFill>
                <a:srgbClr val="536779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1422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F3763F-94B3-464B-8D05-4934A18D9D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E5506D-6D24-4A86-97A0-614A1F7BE998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20000"/>
          </a:bodyPr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MINOR PROJECT • REVIEW</a:t>
            </a:r>
            <a:r>
              <a:rPr lang="en-US"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 2</a:t>
            </a:r>
            <a:endParaRPr sz="1125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9825DA-65E9-4520-B0CA-D3316BEB3734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10744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Project Overview</a:t>
            </a:r>
            <a:r>
              <a:rPr lang="en-US" sz="2925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 (Problem Statement and Motivation)</a:t>
            </a:r>
            <a:endParaRPr sz="2925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95300" y="1466850"/>
            <a:ext cx="11182350" cy="0"/>
          </a:xfrm>
          <a:prstGeom prst="straightConnector1">
            <a:avLst/>
          </a:prstGeom>
          <a:ln w="9525">
            <a:solidFill>
              <a:srgbClr val="D8E1E8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CC4516C-AC66-47DD-821E-42CB1AA58657}"/>
              </a:ext>
            </a:extLst>
          </p:cNvPr>
          <p:cNvSpPr>
            <a:spLocks noGrp="1"/>
          </p:cNvSpPr>
          <p:nvPr/>
        </p:nvSpPr>
        <p:spPr>
          <a:xfrm>
            <a:off x="11201400" y="62865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r">
              <a:defRPr sz="1050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7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36B886-1F0D-438F-8050-901295D4D33F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809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00" lnSpcReduction="20000"/>
          </a:bodyPr>
          <a:lstStyle/>
          <a:p>
            <a:pPr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IN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Intelligent Vehicle Monitoring &amp; Traffic Violation Detection System helps traffic authorities improve traffic surveillance by using AI-powered vehicle detection, OCR-based license plate recognition, and speed estimation and generate email alerts.</a:t>
            </a:r>
            <a:endParaRPr sz="2250" b="1" dirty="0">
              <a:solidFill>
                <a:srgbClr val="102A43"/>
              </a:solidFill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91947B-369E-4A70-AA63-3E3C406415CA}"/>
              </a:ext>
            </a:extLst>
          </p:cNvPr>
          <p:cNvSpPr>
            <a:spLocks noGrp="1"/>
          </p:cNvSpPr>
          <p:nvPr/>
        </p:nvSpPr>
        <p:spPr>
          <a:xfrm>
            <a:off x="8820150" y="1714500"/>
            <a:ext cx="2667000" cy="304800"/>
          </a:xfrm>
          <a:prstGeom prst="roundRect">
            <a:avLst>
              <a:gd name="adj" fmla="val 25000"/>
            </a:avLst>
          </a:prstGeom>
          <a:solidFill>
            <a:srgbClr val="E8F7FE"/>
          </a:solidFill>
          <a:ln w="0">
            <a:solidFill>
              <a:srgbClr val="E8F7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406DF4-9F24-4F15-82C2-711B5FCC5A36}"/>
              </a:ext>
            </a:extLst>
          </p:cNvPr>
          <p:cNvSpPr>
            <a:spLocks noGrp="1"/>
          </p:cNvSpPr>
          <p:nvPr/>
        </p:nvSpPr>
        <p:spPr>
          <a:xfrm>
            <a:off x="8915400" y="17716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405" lnSpcReduction="20000"/>
          </a:bodyPr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DOMAIN: </a:t>
            </a:r>
            <a:r>
              <a:rPr lang="en-US" sz="105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AI</a:t>
            </a:r>
            <a:endParaRPr sz="1050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F0D044C-D6A8-4108-2697-778C3DB1FB14}"/>
              </a:ext>
            </a:extLst>
          </p:cNvPr>
          <p:cNvSpPr>
            <a:spLocks noGrp="1"/>
          </p:cNvSpPr>
          <p:nvPr/>
        </p:nvSpPr>
        <p:spPr>
          <a:xfrm>
            <a:off x="523875" y="3040480"/>
            <a:ext cx="5200650" cy="2979319"/>
          </a:xfrm>
          <a:prstGeom prst="roundRect">
            <a:avLst>
              <a:gd name="adj" fmla="val 6667"/>
            </a:avLst>
          </a:prstGeom>
          <a:solidFill>
            <a:srgbClr val="FDEEEE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5075F2A-2BDE-10E8-3EC1-36818F4C9BC3}"/>
              </a:ext>
            </a:extLst>
          </p:cNvPr>
          <p:cNvSpPr>
            <a:spLocks noGrp="1"/>
          </p:cNvSpPr>
          <p:nvPr/>
        </p:nvSpPr>
        <p:spPr>
          <a:xfrm>
            <a:off x="523875" y="3143249"/>
            <a:ext cx="45719" cy="2798845"/>
          </a:xfrm>
          <a:prstGeom prst="roundRect">
            <a:avLst>
              <a:gd name="adj" fmla="val 50000"/>
            </a:avLst>
          </a:prstGeom>
          <a:solidFill>
            <a:srgbClr val="DC5A5A"/>
          </a:solidFill>
          <a:ln w="0">
            <a:solidFill>
              <a:srgbClr val="DC5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F00618F-8F74-8E76-DBB4-A2F503CC86C5}"/>
              </a:ext>
            </a:extLst>
          </p:cNvPr>
          <p:cNvSpPr>
            <a:spLocks noGrp="1"/>
          </p:cNvSpPr>
          <p:nvPr/>
        </p:nvSpPr>
        <p:spPr>
          <a:xfrm>
            <a:off x="752475" y="3143248"/>
            <a:ext cx="4781550" cy="3925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48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C13783-F1C5-DE99-9E5D-B6647F923D00}"/>
              </a:ext>
            </a:extLst>
          </p:cNvPr>
          <p:cNvSpPr>
            <a:spLocks noGrp="1"/>
          </p:cNvSpPr>
          <p:nvPr/>
        </p:nvSpPr>
        <p:spPr>
          <a:xfrm>
            <a:off x="752475" y="3459585"/>
            <a:ext cx="4781550" cy="2379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/>
          </a:bodyPr>
          <a:lstStyle/>
          <a:p>
            <a:pPr algn="just"/>
            <a:r>
              <a:rPr lang="en-IN" sz="1600" b="1" dirty="0">
                <a:solidFill>
                  <a:srgbClr val="002060"/>
                </a:solidFill>
              </a:rPr>
              <a:t>Traffic authorities face challenges in manually monitoring traffic, identifying speeding vehicles, and recording vehicle registration numbers from surveillance footage. This manual process is time-consuming, prone to human error, and difficult to scale in high-traffic environments.</a:t>
            </a:r>
          </a:p>
          <a:p>
            <a:pPr algn="just"/>
            <a:r>
              <a:rPr lang="en-IN" sz="1600" b="1" dirty="0">
                <a:solidFill>
                  <a:srgbClr val="002060"/>
                </a:solidFill>
              </a:rPr>
              <a:t>Our project addresses this challenge by developing an AI-based system that automatically detects vehicles, recognizes license plates, estimates vehicle speed, and identifies traffic violations from traffic videos</a:t>
            </a:r>
            <a:r>
              <a:rPr lang="en-IN" sz="900" b="1" dirty="0">
                <a:solidFill>
                  <a:srgbClr val="002060"/>
                </a:solidFill>
              </a:rPr>
              <a:t> </a:t>
            </a:r>
            <a:r>
              <a:rPr lang="en-IN" sz="1400" b="1" dirty="0">
                <a:solidFill>
                  <a:srgbClr val="002060"/>
                </a:solidFill>
              </a:rPr>
              <a:t>and generate email alerts for authorities.</a:t>
            </a:r>
            <a:endParaRPr lang="en-IN" sz="900" b="1" dirty="0">
              <a:solidFill>
                <a:srgbClr val="002060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1D87AD1-0E1E-1F07-9831-3561435A38B9}"/>
              </a:ext>
            </a:extLst>
          </p:cNvPr>
          <p:cNvSpPr>
            <a:spLocks noGrp="1"/>
          </p:cNvSpPr>
          <p:nvPr/>
        </p:nvSpPr>
        <p:spPr>
          <a:xfrm>
            <a:off x="6086475" y="3040479"/>
            <a:ext cx="5200650" cy="2979317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FD9FCBE-C020-FCC0-8A69-A6EB1AA12D67}"/>
              </a:ext>
            </a:extLst>
          </p:cNvPr>
          <p:cNvSpPr>
            <a:spLocks noGrp="1"/>
          </p:cNvSpPr>
          <p:nvPr/>
        </p:nvSpPr>
        <p:spPr>
          <a:xfrm>
            <a:off x="6096000" y="3142666"/>
            <a:ext cx="45719" cy="27994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712DF51-C31D-6FC5-96D4-C811DEB7794D}"/>
              </a:ext>
            </a:extLst>
          </p:cNvPr>
          <p:cNvSpPr>
            <a:spLocks noGrp="1"/>
          </p:cNvSpPr>
          <p:nvPr/>
        </p:nvSpPr>
        <p:spPr>
          <a:xfrm>
            <a:off x="6315075" y="3143249"/>
            <a:ext cx="4781550" cy="3925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48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064EE27-1822-1C79-BE0C-613D689DBD1D}"/>
              </a:ext>
            </a:extLst>
          </p:cNvPr>
          <p:cNvSpPr>
            <a:spLocks noGrp="1"/>
          </p:cNvSpPr>
          <p:nvPr/>
        </p:nvSpPr>
        <p:spPr>
          <a:xfrm>
            <a:off x="6315075" y="3631029"/>
            <a:ext cx="4781550" cy="22082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 sz="127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Impact: </a:t>
            </a:r>
            <a:r>
              <a:rPr lang="en-IN" sz="1400" dirty="0"/>
              <a:t>Reduces manual effort and improves the efficiency of traffic monitoring and violation detection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27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Frequency: </a:t>
            </a:r>
            <a:r>
              <a:rPr lang="en-IN" sz="1400" dirty="0"/>
              <a:t>Traffic monitoring is a continuous requirement on highways, urban roads, and major intersections.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27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Affected group: </a:t>
            </a:r>
            <a:r>
              <a:rPr lang="en-IN" sz="1400" dirty="0"/>
              <a:t>Traffic police, smart city authorities, highway operators, and road users.</a:t>
            </a:r>
            <a:endParaRPr sz="1400" b="0" dirty="0">
              <a:solidFill>
                <a:srgbClr val="536779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78687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5897-48AF-4AE4-544A-ED13F1D5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5FA5FD-8065-4950-9E87-C56AD1C5AD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F719D2-6DBF-4603-A807-42A937EE59B7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20000"/>
          </a:bodyPr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MINOR PROJECT • REVIEW </a:t>
            </a:r>
            <a:r>
              <a:rPr lang="en-US"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  <a:endParaRPr sz="1125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45FE49-6CC8-ED9B-2DF8-020FE3C64872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10744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sz="2925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Proposed Architecture and Methodology</a:t>
            </a:r>
            <a:endParaRPr sz="2925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A6BF40-D73A-85F4-4CBD-4048FD3DA32B}"/>
              </a:ext>
            </a:extLst>
          </p:cNvPr>
          <p:cNvCxnSpPr/>
          <p:nvPr/>
        </p:nvCxnSpPr>
        <p:spPr>
          <a:xfrm>
            <a:off x="495300" y="1466850"/>
            <a:ext cx="11182350" cy="0"/>
          </a:xfrm>
          <a:prstGeom prst="straightConnector1">
            <a:avLst/>
          </a:prstGeom>
          <a:ln w="9525">
            <a:solidFill>
              <a:srgbClr val="D8E1E8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D95537E-D02D-FA9F-7D37-FC936DD341C9}"/>
              </a:ext>
            </a:extLst>
          </p:cNvPr>
          <p:cNvSpPr>
            <a:spLocks noGrp="1"/>
          </p:cNvSpPr>
          <p:nvPr/>
        </p:nvSpPr>
        <p:spPr>
          <a:xfrm>
            <a:off x="11201400" y="62865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r">
              <a:defRPr sz="1050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7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" y="1700784"/>
            <a:ext cx="1889150" cy="310896"/>
          </a:xfrm>
          <a:prstGeom prst="roundRect">
            <a:avLst>
              <a:gd name="adj" fmla="val 2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1700784"/>
            <a:ext cx="166969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" y="2121408"/>
            <a:ext cx="1889150" cy="265176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0080" y="2267712"/>
            <a:ext cx="310896" cy="310896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 rot="5400000">
            <a:off x="745784" y="2367198"/>
            <a:ext cx="99486" cy="11192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2240280"/>
            <a:ext cx="1212494" cy="2468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Traffic 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633472"/>
            <a:ext cx="1596542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36779"/>
                </a:solidFill>
                <a:latin typeface="Aptos"/>
              </a:rPr>
              <a:t>Live / recorded CCTV feed captured frame-by-frame as pipeline input.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20670" y="1700784"/>
            <a:ext cx="1889150" cy="310896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30398" y="1700784"/>
            <a:ext cx="166969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DETECTION &amp;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0670" y="1700784"/>
            <a:ext cx="17977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20670" y="2121408"/>
            <a:ext cx="1889150" cy="60121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766974" y="2266569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829153" y="2378491"/>
            <a:ext cx="186537" cy="808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831348" y="2427320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949488" y="2427320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87598" y="2121408"/>
            <a:ext cx="1212494" cy="601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Vehicle Detection (YOLO)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20670" y="2804922"/>
            <a:ext cx="1889150" cy="60121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766974" y="2950083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835371" y="3055787"/>
            <a:ext cx="174101" cy="9948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87598" y="2804922"/>
            <a:ext cx="1212494" cy="601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License Plate Detection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20670" y="3488436"/>
            <a:ext cx="1889150" cy="60121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766974" y="3633597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onut 43"/>
          <p:cNvSpPr/>
          <p:nvPr/>
        </p:nvSpPr>
        <p:spPr>
          <a:xfrm>
            <a:off x="2841589" y="3708212"/>
            <a:ext cx="161665" cy="161665"/>
          </a:xfrm>
          <a:prstGeom prst="donu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187598" y="3488436"/>
            <a:ext cx="1212494" cy="601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Vehicle Tracking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20670" y="4171950"/>
            <a:ext cx="1889150" cy="60121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766974" y="4317111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Donut 47"/>
          <p:cNvSpPr/>
          <p:nvPr/>
        </p:nvSpPr>
        <p:spPr>
          <a:xfrm>
            <a:off x="2841589" y="4391726"/>
            <a:ext cx="161665" cy="161665"/>
          </a:xfrm>
          <a:prstGeom prst="donu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187598" y="4171950"/>
            <a:ext cx="1212494" cy="601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Unique Track ID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47564" y="1700784"/>
            <a:ext cx="1889150" cy="310896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57292" y="1700784"/>
            <a:ext cx="166969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CV &amp;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47564" y="1700784"/>
            <a:ext cx="17977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M2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47564" y="2121408"/>
            <a:ext cx="1889150" cy="822959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893868" y="2377440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Snip Single Corner Rectangle 54"/>
          <p:cNvSpPr/>
          <p:nvPr/>
        </p:nvSpPr>
        <p:spPr>
          <a:xfrm>
            <a:off x="4956048" y="2464490"/>
            <a:ext cx="186537" cy="136794"/>
          </a:xfrm>
          <a:prstGeom prst="snip1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14492" y="2121408"/>
            <a:ext cx="1212494" cy="822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Plate Extraction &amp; OpenCV Preprocessing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47564" y="3035808"/>
            <a:ext cx="1889150" cy="822959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893868" y="3291840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Folded Corner 58"/>
          <p:cNvSpPr/>
          <p:nvPr/>
        </p:nvSpPr>
        <p:spPr>
          <a:xfrm>
            <a:off x="4980919" y="3360237"/>
            <a:ext cx="136794" cy="174101"/>
          </a:xfrm>
          <a:prstGeom prst="foldedCorner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314492" y="3035808"/>
            <a:ext cx="1212494" cy="822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OCR &amp; Plate Validation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47564" y="3950208"/>
            <a:ext cx="1889150" cy="822959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893868" y="4206240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Pie 62"/>
          <p:cNvSpPr/>
          <p:nvPr/>
        </p:nvSpPr>
        <p:spPr>
          <a:xfrm>
            <a:off x="4962265" y="4274637"/>
            <a:ext cx="174101" cy="174101"/>
          </a:xfrm>
          <a:prstGeom prst="pie">
            <a:avLst>
              <a:gd name="adj1" fmla="val 20000000"/>
              <a:gd name="adj2" fmla="val 3400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Isosceles Triangle 63"/>
          <p:cNvSpPr/>
          <p:nvPr/>
        </p:nvSpPr>
        <p:spPr>
          <a:xfrm rot="2100000">
            <a:off x="5031028" y="4293290"/>
            <a:ext cx="45720" cy="80832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14492" y="3950208"/>
            <a:ext cx="1212494" cy="822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Speed Estimation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74459" y="1700784"/>
            <a:ext cx="1889150" cy="310896"/>
          </a:xfrm>
          <a:prstGeom prst="roundRect">
            <a:avLst>
              <a:gd name="adj" fmla="val 2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84187" y="1700784"/>
            <a:ext cx="166969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74459" y="1700784"/>
            <a:ext cx="17977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M2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74459" y="2121408"/>
            <a:ext cx="1889150" cy="822959"/>
          </a:xfrm>
          <a:prstGeom prst="roundRect">
            <a:avLst>
              <a:gd name="adj" fmla="val 14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020763" y="2377440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ctagon 70"/>
          <p:cNvSpPr/>
          <p:nvPr/>
        </p:nvSpPr>
        <p:spPr>
          <a:xfrm>
            <a:off x="7095378" y="2452055"/>
            <a:ext cx="161665" cy="161665"/>
          </a:xfrm>
          <a:prstGeom prst="octagon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41387" y="2121408"/>
            <a:ext cx="1212494" cy="822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Speed Limit Comparison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74459" y="3035808"/>
            <a:ext cx="1889150" cy="822959"/>
          </a:xfrm>
          <a:prstGeom prst="roundRect">
            <a:avLst>
              <a:gd name="adj" fmla="val 14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7020763" y="3291840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Lightning Bolt 74"/>
          <p:cNvSpPr/>
          <p:nvPr/>
        </p:nvSpPr>
        <p:spPr>
          <a:xfrm>
            <a:off x="7123358" y="3369564"/>
            <a:ext cx="105704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441387" y="3035808"/>
            <a:ext cx="1212494" cy="822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Overspeed Detection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874459" y="3950208"/>
            <a:ext cx="1889150" cy="822959"/>
          </a:xfrm>
          <a:prstGeom prst="roundRect">
            <a:avLst>
              <a:gd name="adj" fmla="val 14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020763" y="4206240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Hexagon 78"/>
          <p:cNvSpPr/>
          <p:nvPr/>
        </p:nvSpPr>
        <p:spPr>
          <a:xfrm>
            <a:off x="7098487" y="4283964"/>
            <a:ext cx="155448" cy="15544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441387" y="3950208"/>
            <a:ext cx="1212494" cy="822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Rule-Based Fine Calculation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01353" y="1700784"/>
            <a:ext cx="1889150" cy="310896"/>
          </a:xfrm>
          <a:prstGeom prst="roundRect">
            <a:avLst>
              <a:gd name="adj" fmla="val 2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111081" y="1700784"/>
            <a:ext cx="166969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Aptos"/>
              </a:rPr>
              <a:t>APPLICATION / OUTPUT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1353" y="1700784"/>
            <a:ext cx="17977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ptos"/>
              </a:rPr>
              <a:t>M3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01353" y="2121408"/>
            <a:ext cx="1889150" cy="822959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147657" y="2377440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228490" y="2475646"/>
            <a:ext cx="14923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228490" y="2519172"/>
            <a:ext cx="14923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228490" y="2562697"/>
            <a:ext cx="14923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568281" y="2290514"/>
            <a:ext cx="1212494" cy="484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dirty="0">
                <a:solidFill>
                  <a:srgbClr val="102A43"/>
                </a:solidFill>
                <a:latin typeface="Aptos"/>
              </a:rPr>
              <a:t>Structured Violation Result</a:t>
            </a:r>
            <a:r>
              <a:rPr lang="en-US" sz="1050" b="1" dirty="0">
                <a:solidFill>
                  <a:srgbClr val="102A43"/>
                </a:solidFill>
                <a:latin typeface="Aptos"/>
              </a:rPr>
              <a:t> as Email Alerts</a:t>
            </a:r>
            <a:endParaRPr sz="105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9001353" y="3035808"/>
            <a:ext cx="1889150" cy="822959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9147657" y="3291840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Can 91"/>
          <p:cNvSpPr/>
          <p:nvPr/>
        </p:nvSpPr>
        <p:spPr>
          <a:xfrm>
            <a:off x="9225381" y="3360237"/>
            <a:ext cx="155448" cy="174101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68281" y="3035808"/>
            <a:ext cx="1212494" cy="822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Backend / Database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001353" y="3950208"/>
            <a:ext cx="1889150" cy="822959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9147657" y="4206240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234708" y="4246839"/>
            <a:ext cx="37307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9284451" y="4137111"/>
            <a:ext cx="37307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334195" y="4191975"/>
            <a:ext cx="37307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568281" y="3950208"/>
            <a:ext cx="1212494" cy="822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Aptos"/>
              </a:rPr>
              <a:t>Dashboard</a:t>
            </a:r>
          </a:p>
        </p:txBody>
      </p:sp>
      <p:sp>
        <p:nvSpPr>
          <p:cNvPr id="100" name="Chevron 99"/>
          <p:cNvSpPr/>
          <p:nvPr/>
        </p:nvSpPr>
        <p:spPr>
          <a:xfrm>
            <a:off x="2419502" y="1773936"/>
            <a:ext cx="164592" cy="164592"/>
          </a:xfrm>
          <a:prstGeom prst="chevron">
            <a:avLst/>
          </a:prstGeom>
          <a:solidFill>
            <a:srgbClr val="A8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hevron 100"/>
          <p:cNvSpPr/>
          <p:nvPr/>
        </p:nvSpPr>
        <p:spPr>
          <a:xfrm>
            <a:off x="4546396" y="1773936"/>
            <a:ext cx="164592" cy="164592"/>
          </a:xfrm>
          <a:prstGeom prst="chevron">
            <a:avLst/>
          </a:prstGeom>
          <a:solidFill>
            <a:srgbClr val="A8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Chevron 101"/>
          <p:cNvSpPr/>
          <p:nvPr/>
        </p:nvSpPr>
        <p:spPr>
          <a:xfrm>
            <a:off x="6673291" y="1773936"/>
            <a:ext cx="164592" cy="164592"/>
          </a:xfrm>
          <a:prstGeom prst="chevron">
            <a:avLst/>
          </a:prstGeom>
          <a:solidFill>
            <a:srgbClr val="A8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Chevron 102"/>
          <p:cNvSpPr/>
          <p:nvPr/>
        </p:nvSpPr>
        <p:spPr>
          <a:xfrm>
            <a:off x="8800185" y="1773936"/>
            <a:ext cx="164592" cy="164592"/>
          </a:xfrm>
          <a:prstGeom prst="chevron">
            <a:avLst/>
          </a:prstGeom>
          <a:solidFill>
            <a:srgbClr val="A8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3776" y="497433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3776" y="5248656"/>
            <a:ext cx="1641348" cy="960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30936" y="5385816"/>
            <a:ext cx="274320" cy="27432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30936" y="53858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6696" y="5376672"/>
            <a:ext cx="10469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Aptos"/>
              </a:rPr>
              <a:t>Capture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" y="5715000"/>
            <a:ext cx="13670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80" b="0">
                <a:solidFill>
                  <a:srgbClr val="536779"/>
                </a:solidFill>
                <a:latin typeface="Aptos"/>
              </a:rPr>
              <a:t>Analyze traffic video frames.</a:t>
            </a:r>
          </a:p>
        </p:txBody>
      </p:sp>
      <p:sp>
        <p:nvSpPr>
          <p:cNvPr id="110" name="Chevron 109"/>
          <p:cNvSpPr/>
          <p:nvPr/>
        </p:nvSpPr>
        <p:spPr>
          <a:xfrm>
            <a:off x="2154875" y="5673852"/>
            <a:ext cx="70225" cy="109728"/>
          </a:xfrm>
          <a:prstGeom prst="chevron">
            <a:avLst/>
          </a:prstGeom>
          <a:solidFill>
            <a:srgbClr val="A8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2244852" y="5248656"/>
            <a:ext cx="1641348" cy="960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2382012" y="5385816"/>
            <a:ext cx="274320" cy="27432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382012" y="53858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47772" y="5376672"/>
            <a:ext cx="10469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Aptos"/>
              </a:rPr>
              <a:t>Detect &amp; Track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382012" y="5715000"/>
            <a:ext cx="13670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80" b="0">
                <a:solidFill>
                  <a:srgbClr val="536779"/>
                </a:solidFill>
                <a:latin typeface="Aptos"/>
              </a:rPr>
              <a:t>ID vehicles, plates &amp; Track IDs.</a:t>
            </a:r>
          </a:p>
        </p:txBody>
      </p:sp>
      <p:sp>
        <p:nvSpPr>
          <p:cNvPr id="116" name="Chevron 115"/>
          <p:cNvSpPr/>
          <p:nvPr/>
        </p:nvSpPr>
        <p:spPr>
          <a:xfrm>
            <a:off x="3905951" y="5673852"/>
            <a:ext cx="70225" cy="109728"/>
          </a:xfrm>
          <a:prstGeom prst="chevron">
            <a:avLst/>
          </a:prstGeom>
          <a:solidFill>
            <a:srgbClr val="A8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3995928" y="5248656"/>
            <a:ext cx="1641348" cy="960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4133088" y="5385816"/>
            <a:ext cx="274320" cy="27432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133088" y="53858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498848" y="5376672"/>
            <a:ext cx="10469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Aptos"/>
              </a:rPr>
              <a:t>Extract &amp; Read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33088" y="5715000"/>
            <a:ext cx="13670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80" b="0">
                <a:solidFill>
                  <a:srgbClr val="536779"/>
                </a:solidFill>
                <a:latin typeface="Aptos"/>
              </a:rPr>
              <a:t>Crop plate, preprocess, OCR.</a:t>
            </a:r>
          </a:p>
        </p:txBody>
      </p:sp>
      <p:sp>
        <p:nvSpPr>
          <p:cNvPr id="122" name="Chevron 121"/>
          <p:cNvSpPr/>
          <p:nvPr/>
        </p:nvSpPr>
        <p:spPr>
          <a:xfrm>
            <a:off x="5657027" y="5673852"/>
            <a:ext cx="70225" cy="109728"/>
          </a:xfrm>
          <a:prstGeom prst="chevron">
            <a:avLst/>
          </a:prstGeom>
          <a:solidFill>
            <a:srgbClr val="A8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5747004" y="5248656"/>
            <a:ext cx="1641348" cy="960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5884164" y="5385816"/>
            <a:ext cx="274320" cy="27432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884164" y="53858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49924" y="5376672"/>
            <a:ext cx="10469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Aptos"/>
              </a:rPr>
              <a:t>Estimate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884164" y="5715000"/>
            <a:ext cx="13670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80" b="0">
                <a:solidFill>
                  <a:srgbClr val="536779"/>
                </a:solidFill>
                <a:latin typeface="Aptos"/>
              </a:rPr>
              <a:t>Compute speed from tracked motion.</a:t>
            </a:r>
          </a:p>
        </p:txBody>
      </p:sp>
      <p:sp>
        <p:nvSpPr>
          <p:cNvPr id="128" name="Chevron 127"/>
          <p:cNvSpPr/>
          <p:nvPr/>
        </p:nvSpPr>
        <p:spPr>
          <a:xfrm>
            <a:off x="7408103" y="5673852"/>
            <a:ext cx="70225" cy="109728"/>
          </a:xfrm>
          <a:prstGeom prst="chevron">
            <a:avLst/>
          </a:prstGeom>
          <a:solidFill>
            <a:srgbClr val="A8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7498079" y="5248656"/>
            <a:ext cx="1641348" cy="960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635240" y="5385816"/>
            <a:ext cx="274320" cy="27432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635240" y="53858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01000" y="5376672"/>
            <a:ext cx="10469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Aptos"/>
              </a:rPr>
              <a:t>Decide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635240" y="5715000"/>
            <a:ext cx="13670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80" b="0">
                <a:solidFill>
                  <a:srgbClr val="536779"/>
                </a:solidFill>
                <a:latin typeface="Aptos"/>
              </a:rPr>
              <a:t>Compare with limit; flag violation.</a:t>
            </a:r>
          </a:p>
        </p:txBody>
      </p:sp>
      <p:sp>
        <p:nvSpPr>
          <p:cNvPr id="134" name="Chevron 133"/>
          <p:cNvSpPr/>
          <p:nvPr/>
        </p:nvSpPr>
        <p:spPr>
          <a:xfrm>
            <a:off x="9159179" y="5673852"/>
            <a:ext cx="70225" cy="109728"/>
          </a:xfrm>
          <a:prstGeom prst="chevron">
            <a:avLst/>
          </a:prstGeom>
          <a:solidFill>
            <a:srgbClr val="A8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9249155" y="5248656"/>
            <a:ext cx="1641348" cy="960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D8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9386315" y="5385816"/>
            <a:ext cx="274320" cy="27432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386315" y="53858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752076" y="5376672"/>
            <a:ext cx="10469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Aptos"/>
              </a:rPr>
              <a:t>Generate Result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386315" y="5715000"/>
            <a:ext cx="1367028" cy="241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80" b="0" dirty="0">
                <a:solidFill>
                  <a:srgbClr val="536779"/>
                </a:solidFill>
                <a:latin typeface="Aptos"/>
              </a:rPr>
              <a:t>Calculate fine; send to app layer</a:t>
            </a:r>
            <a:r>
              <a:rPr lang="en-US" sz="780" dirty="0">
                <a:solidFill>
                  <a:srgbClr val="536779"/>
                </a:solidFill>
                <a:latin typeface="Aptos"/>
              </a:rPr>
              <a:t> and generate email alerts.</a:t>
            </a:r>
            <a:endParaRPr sz="780" b="0" dirty="0">
              <a:solidFill>
                <a:srgbClr val="536779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3521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3170F4-919B-4E51-9056-810701D43C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E10009-EEC8-47E1-BB30-2135CB40632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20000"/>
          </a:bodyPr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MINOR PROJECT • REVIEW </a:t>
            </a:r>
            <a:r>
              <a:rPr lang="en-US"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  <a:endParaRPr sz="1125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70437-3517-4D83-9F58-B2DDA1FF1044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10744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925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Review </a:t>
            </a:r>
            <a:r>
              <a:rPr lang="en-US" sz="2925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2 - </a:t>
            </a:r>
            <a:r>
              <a:rPr sz="2925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 Work Completed</a:t>
            </a:r>
            <a:r>
              <a:rPr lang="en-US" sz="2925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 – SO FAR</a:t>
            </a:r>
            <a:endParaRPr sz="2925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95300" y="1466850"/>
            <a:ext cx="11182350" cy="0"/>
          </a:xfrm>
          <a:prstGeom prst="straightConnector1">
            <a:avLst/>
          </a:prstGeom>
          <a:ln w="9525">
            <a:solidFill>
              <a:srgbClr val="D8E1E8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E764736-BFE1-45AE-AA10-245D8BFA8F5D}"/>
              </a:ext>
            </a:extLst>
          </p:cNvPr>
          <p:cNvSpPr>
            <a:spLocks noGrp="1"/>
          </p:cNvSpPr>
          <p:nvPr/>
        </p:nvSpPr>
        <p:spPr>
          <a:xfrm>
            <a:off x="11201400" y="62865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r">
              <a:defRPr sz="1050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77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D73163-A65C-4A42-9600-3704A60AE7DE}"/>
              </a:ext>
            </a:extLst>
          </p:cNvPr>
          <p:cNvSpPr>
            <a:spLocks noGrp="1"/>
          </p:cNvSpPr>
          <p:nvPr/>
        </p:nvSpPr>
        <p:spPr>
          <a:xfrm>
            <a:off x="495300" y="1714500"/>
            <a:ext cx="5162550" cy="1676400"/>
          </a:xfrm>
          <a:prstGeom prst="roundRect">
            <a:avLst>
              <a:gd name="adj" fmla="val 6818"/>
            </a:avLst>
          </a:prstGeom>
          <a:solidFill>
            <a:srgbClr val="F3F6F8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037261-44DA-41D9-9666-60C27B590BAD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533400" cy="5334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B832C1-E7A6-4C47-841F-0645FA9F57BC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208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54D35E-B7B6-45A7-A34B-78CE47E67978}"/>
              </a:ext>
            </a:extLst>
          </p:cNvPr>
          <p:cNvSpPr>
            <a:spLocks noGrp="1"/>
          </p:cNvSpPr>
          <p:nvPr/>
        </p:nvSpPr>
        <p:spPr>
          <a:xfrm>
            <a:off x="1428750" y="19526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sz="172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Modules</a:t>
            </a:r>
            <a:endParaRPr sz="1725" b="1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Modules Body"/>
          <p:cNvSpPr>
            <a:spLocks noGrp="1"/>
          </p:cNvSpPr>
          <p:nvPr/>
        </p:nvSpPr>
        <p:spPr>
          <a:xfrm>
            <a:off x="724350" y="2560000"/>
            <a:ext cx="4712550" cy="830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Vehicle Detection &amp; Tracking module built and tested end-to-end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YOLOv8 + ByteTrack integrated; output format finalized and shared with team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EF6C20-4701-4F9B-B3C8-7D5E5AB443D6}"/>
              </a:ext>
            </a:extLst>
          </p:cNvPr>
          <p:cNvSpPr>
            <a:spLocks noGrp="1"/>
          </p:cNvSpPr>
          <p:nvPr/>
        </p:nvSpPr>
        <p:spPr>
          <a:xfrm>
            <a:off x="5981700" y="1714500"/>
            <a:ext cx="5162550" cy="1676400"/>
          </a:xfrm>
          <a:prstGeom prst="roundRect">
            <a:avLst>
              <a:gd name="adj" fmla="val 6818"/>
            </a:avLst>
          </a:prstGeom>
          <a:solidFill>
            <a:srgbClr val="F3F6F8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9885B3-4BE5-4806-877C-738188180F52}"/>
              </a:ext>
            </a:extLst>
          </p:cNvPr>
          <p:cNvSpPr>
            <a:spLocks noGrp="1"/>
          </p:cNvSpPr>
          <p:nvPr/>
        </p:nvSpPr>
        <p:spPr>
          <a:xfrm>
            <a:off x="6191250" y="1943100"/>
            <a:ext cx="533400" cy="533400"/>
          </a:xfrm>
          <a:prstGeom prst="ellipse">
            <a:avLst/>
          </a:prstGeom>
          <a:solidFill>
            <a:srgbClr val="0F9D78"/>
          </a:solidFill>
          <a:ln w="0">
            <a:solidFill>
              <a:srgbClr val="0F9D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B606F9-4983-4C2D-8D37-D6C1716510FE}"/>
              </a:ext>
            </a:extLst>
          </p:cNvPr>
          <p:cNvSpPr>
            <a:spLocks noGrp="1"/>
          </p:cNvSpPr>
          <p:nvPr/>
        </p:nvSpPr>
        <p:spPr>
          <a:xfrm>
            <a:off x="6324600" y="20764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208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1C34DF-AD04-40B7-B92C-6F588465E9FD}"/>
              </a:ext>
            </a:extLst>
          </p:cNvPr>
          <p:cNvSpPr>
            <a:spLocks noGrp="1"/>
          </p:cNvSpPr>
          <p:nvPr/>
        </p:nvSpPr>
        <p:spPr>
          <a:xfrm>
            <a:off x="6915150" y="19526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sz="172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Dataset Status</a:t>
            </a:r>
            <a:endParaRPr sz="1725" b="1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Dataset Status Body"/>
          <p:cNvSpPr>
            <a:spLocks noGrp="1"/>
          </p:cNvSpPr>
          <p:nvPr/>
        </p:nvSpPr>
        <p:spPr>
          <a:xfrm>
            <a:off x="6210750" y="2560000"/>
            <a:ext cx="4712550" cy="830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UCSD/VISAL Traffic DB (254 clips) — primary baseline dataset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UA-DETRAC — ground-truth recall benchmarking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BMD-45 (Bengaluru, India) — used for fine-tuning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DE5285-1E3A-4214-A0F2-9DF5940DD10C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5162550" cy="1676400"/>
          </a:xfrm>
          <a:prstGeom prst="roundRect">
            <a:avLst>
              <a:gd name="adj" fmla="val 6818"/>
            </a:avLst>
          </a:prstGeom>
          <a:solidFill>
            <a:srgbClr val="F3F6F8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B5B996-A32C-45A3-BAFB-7673C9B69174}"/>
              </a:ext>
            </a:extLst>
          </p:cNvPr>
          <p:cNvSpPr>
            <a:spLocks noGrp="1"/>
          </p:cNvSpPr>
          <p:nvPr/>
        </p:nvSpPr>
        <p:spPr>
          <a:xfrm>
            <a:off x="704850" y="3943350"/>
            <a:ext cx="533400" cy="5334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130D17-E3CB-401E-A79A-1612B5581981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208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F093AD-42CF-428D-B760-E6C1AC9F6609}"/>
              </a:ext>
            </a:extLst>
          </p:cNvPr>
          <p:cNvSpPr>
            <a:spLocks noGrp="1"/>
          </p:cNvSpPr>
          <p:nvPr/>
        </p:nvSpPr>
        <p:spPr>
          <a:xfrm>
            <a:off x="1428750" y="39528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sz="172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 Build and Training status</a:t>
            </a:r>
            <a:endParaRPr sz="1725" b="1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Model Build Body"/>
          <p:cNvSpPr>
            <a:spLocks noGrp="1"/>
          </p:cNvSpPr>
          <p:nvPr/>
        </p:nvSpPr>
        <p:spPr>
          <a:xfrm>
            <a:off x="776176" y="4514850"/>
            <a:ext cx="4600797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Base model: YOLOv8s — benchmarked vs YOLOv11, v8 selected for higher recall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Tracking bug found and fixed in ByteTrack integration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Fine-tuned 5-class model (car/bike/bus/truck/rickshaw) on Indian traffic data — completed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39F871C-DFA4-4832-A055-FF234750698B}"/>
              </a:ext>
            </a:extLst>
          </p:cNvPr>
          <p:cNvSpPr>
            <a:spLocks noGrp="1"/>
          </p:cNvSpPr>
          <p:nvPr/>
        </p:nvSpPr>
        <p:spPr>
          <a:xfrm>
            <a:off x="5981700" y="3714750"/>
            <a:ext cx="5162550" cy="1676400"/>
          </a:xfrm>
          <a:prstGeom prst="roundRect">
            <a:avLst>
              <a:gd name="adj" fmla="val 6818"/>
            </a:avLst>
          </a:prstGeom>
          <a:solidFill>
            <a:srgbClr val="F3F6F8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23EC65-DF96-44E6-A9A3-8541704E1293}"/>
              </a:ext>
            </a:extLst>
          </p:cNvPr>
          <p:cNvSpPr>
            <a:spLocks noGrp="1"/>
          </p:cNvSpPr>
          <p:nvPr/>
        </p:nvSpPr>
        <p:spPr>
          <a:xfrm>
            <a:off x="6191250" y="3943350"/>
            <a:ext cx="533400" cy="533400"/>
          </a:xfrm>
          <a:prstGeom prst="ellipse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9C62A7-FC9B-43D3-B788-E8FD26A72B18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208" lnSpcReduction="10000"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6ED344-ED8B-4ADB-9EBC-97A6139732BB}"/>
              </a:ext>
            </a:extLst>
          </p:cNvPr>
          <p:cNvSpPr>
            <a:spLocks noGrp="1"/>
          </p:cNvSpPr>
          <p:nvPr/>
        </p:nvSpPr>
        <p:spPr>
          <a:xfrm>
            <a:off x="6915150" y="39528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endParaRPr sz="1725" b="1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28B159-6E66-4905-87A7-95D726E36F51}"/>
              </a:ext>
            </a:extLst>
          </p:cNvPr>
          <p:cNvSpPr>
            <a:spLocks noGrp="1"/>
          </p:cNvSpPr>
          <p:nvPr/>
        </p:nvSpPr>
        <p:spPr>
          <a:xfrm>
            <a:off x="495300" y="58102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endParaRPr sz="1500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DFAAB4-D45E-7CFA-B87D-B3C4956E605C}"/>
              </a:ext>
            </a:extLst>
          </p:cNvPr>
          <p:cNvSpPr>
            <a:spLocks noGrp="1"/>
          </p:cNvSpPr>
          <p:nvPr/>
        </p:nvSpPr>
        <p:spPr>
          <a:xfrm>
            <a:off x="6934200" y="40005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sz="172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Outcomes</a:t>
            </a:r>
            <a:endParaRPr sz="1725" b="1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Outcomes Body"/>
          <p:cNvSpPr>
            <a:spLocks noGrp="1"/>
          </p:cNvSpPr>
          <p:nvPr/>
        </p:nvSpPr>
        <p:spPr>
          <a:xfrm>
            <a:off x="6210750" y="4560000"/>
            <a:ext cx="4712550" cy="79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Full detection + tracking pipeline operational end-to-end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Measured strong gains after fine-tuning on Indian traffic data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Two-wheeler recall: 42% → 88%; rickshaw detection: 0% → 91%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Car↔truck confusion reduced by 78% with fine-tuning</a:t>
            </a:r>
          </a:p>
        </p:txBody>
      </p:sp>
    </p:spTree>
    <p:extLst>
      <p:ext uri="{BB962C8B-B14F-4D97-AF65-F5344CB8AC3E}">
        <p14:creationId xmlns:p14="http://schemas.microsoft.com/office/powerpoint/2010/main" val="102241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C2DD00-C8B4-45CE-A007-ABF069FB61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108083-959A-40F4-A90A-46869EE50913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20000"/>
          </a:bodyPr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MINOR PROJECT • REVIEW </a:t>
            </a:r>
            <a:r>
              <a:rPr lang="en-US"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  <a:endParaRPr sz="1125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B39609-E5C0-4CF9-8496-003F4D061728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10744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sz="2925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Sample Screenshots / Partial Results</a:t>
            </a:r>
            <a:endParaRPr sz="2925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95300" y="1466850"/>
            <a:ext cx="11182350" cy="0"/>
          </a:xfrm>
          <a:prstGeom prst="straightConnector1">
            <a:avLst/>
          </a:prstGeom>
          <a:ln w="9525">
            <a:solidFill>
              <a:srgbClr val="D8E1E8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9079557-24AF-4174-9EB2-3F6A38D2F871}"/>
              </a:ext>
            </a:extLst>
          </p:cNvPr>
          <p:cNvSpPr>
            <a:spLocks noGrp="1"/>
          </p:cNvSpPr>
          <p:nvPr/>
        </p:nvSpPr>
        <p:spPr>
          <a:xfrm>
            <a:off x="11201400" y="62865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r">
              <a:defRPr sz="1050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77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20" name="Detection Outpu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828800"/>
            <a:ext cx="8229600" cy="3714750"/>
          </a:xfrm>
          <a:prstGeom prst="rect">
            <a:avLst/>
          </a:prstGeom>
          <a:ln w="9525">
            <a:solidFill>
              <a:srgbClr val="D8E1E8"/>
            </a:solidFill>
          </a:ln>
        </p:spPr>
      </p:pic>
      <p:sp>
        <p:nvSpPr>
          <p:cNvPr id="21" name="Screenshot Caption"/>
          <p:cNvSpPr>
            <a:spLocks noGrp="1"/>
          </p:cNvSpPr>
          <p:nvPr/>
        </p:nvSpPr>
        <p:spPr>
          <a:xfrm>
            <a:off x="1981200" y="5600700"/>
            <a:ext cx="8229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/>
            <a:r>
              <a:rPr sz="1200" b="0" i="1" dirty="0">
                <a:solidFill>
                  <a:srgbClr val="536779"/>
                </a:solidFill>
                <a:latin typeface="Aptos"/>
                <a:ea typeface="Aptos"/>
                <a:cs typeface="Aptos"/>
              </a:rPr>
              <a:t>YOLOv8 + ByteTrack output — multi-class detection with persistent vehicle IDs (car, bus, truck, bike) on live traffic footage</a:t>
            </a:r>
          </a:p>
        </p:txBody>
      </p:sp>
    </p:spTree>
    <p:extLst>
      <p:ext uri="{BB962C8B-B14F-4D97-AF65-F5344CB8AC3E}">
        <p14:creationId xmlns:p14="http://schemas.microsoft.com/office/powerpoint/2010/main" val="35878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A21B-F270-A7FF-A479-1377A1DA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56DBC0-186A-5BCE-9AD7-449A88A8B6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4BD935-AAAA-B2B1-B5BF-08BF411053C4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00" lnSpcReduction="20000"/>
          </a:bodyPr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MINOR PROJECT • REVIEW </a:t>
            </a:r>
            <a:r>
              <a:rPr lang="en-US" sz="112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  <a:endParaRPr sz="1125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0C35F-912C-A61A-F39A-54FE55D74B9B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10744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sz="2925" b="1" dirty="0">
                <a:solidFill>
                  <a:srgbClr val="0070C0"/>
                </a:solidFill>
                <a:latin typeface="Aptos"/>
                <a:ea typeface="Aptos"/>
                <a:cs typeface="Aptos"/>
              </a:rPr>
              <a:t>Way Forward Plan</a:t>
            </a:r>
            <a:endParaRPr sz="2925" b="1" dirty="0">
              <a:solidFill>
                <a:srgbClr val="0070C0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5CEC49-9740-C157-3C89-5EBFFB71E470}"/>
              </a:ext>
            </a:extLst>
          </p:cNvPr>
          <p:cNvCxnSpPr/>
          <p:nvPr/>
        </p:nvCxnSpPr>
        <p:spPr>
          <a:xfrm>
            <a:off x="495300" y="1466850"/>
            <a:ext cx="11182350" cy="0"/>
          </a:xfrm>
          <a:prstGeom prst="straightConnector1">
            <a:avLst/>
          </a:prstGeom>
          <a:ln w="9525">
            <a:solidFill>
              <a:srgbClr val="D8E1E8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DEF0781-D80E-4581-FE82-7C990823B98A}"/>
              </a:ext>
            </a:extLst>
          </p:cNvPr>
          <p:cNvSpPr>
            <a:spLocks noGrp="1"/>
          </p:cNvSpPr>
          <p:nvPr/>
        </p:nvSpPr>
        <p:spPr>
          <a:xfrm>
            <a:off x="11201400" y="62865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09" lnSpcReduction="20000"/>
          </a:bodyPr>
          <a:lstStyle/>
          <a:p>
            <a:pPr algn="r">
              <a:defRPr sz="1050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77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D6FBA7-0276-A400-ED5F-FC54F6E2B3F8}"/>
              </a:ext>
            </a:extLst>
          </p:cNvPr>
          <p:cNvSpPr>
            <a:spLocks noGrp="1"/>
          </p:cNvSpPr>
          <p:nvPr/>
        </p:nvSpPr>
        <p:spPr>
          <a:xfrm>
            <a:off x="495299" y="1714499"/>
            <a:ext cx="10053637" cy="4029071"/>
          </a:xfrm>
          <a:prstGeom prst="roundRect">
            <a:avLst>
              <a:gd name="adj" fmla="val 3529"/>
            </a:avLst>
          </a:prstGeom>
          <a:solidFill>
            <a:srgbClr val="E8F7FE"/>
          </a:solidFill>
          <a:ln w="9525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A5D291-3A61-2837-924C-6DDA68F80178}"/>
              </a:ext>
            </a:extLst>
          </p:cNvPr>
          <p:cNvSpPr>
            <a:spLocks noGrp="1"/>
          </p:cNvSpPr>
          <p:nvPr/>
        </p:nvSpPr>
        <p:spPr>
          <a:xfrm flipH="1">
            <a:off x="449581" y="1714499"/>
            <a:ext cx="45719" cy="402906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BF1D09-AADE-CA34-64AE-560642CE5486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4743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48" lnSpcReduction="1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en-US" sz="1650" b="1" dirty="0">
                <a:solidFill>
                  <a:srgbClr val="002060"/>
                </a:solidFill>
                <a:latin typeface="Aptos"/>
                <a:ea typeface="Aptos"/>
                <a:cs typeface="Aptos"/>
              </a:rPr>
              <a:t>During</a:t>
            </a:r>
            <a:r>
              <a:rPr sz="1650" b="1" dirty="0">
                <a:solidFill>
                  <a:srgbClr val="002060"/>
                </a:solidFill>
                <a:latin typeface="Aptos"/>
                <a:ea typeface="Aptos"/>
                <a:cs typeface="Aptos"/>
              </a:rPr>
              <a:t> Review </a:t>
            </a:r>
            <a:r>
              <a:rPr lang="en-US" sz="1650" b="1" dirty="0">
                <a:solidFill>
                  <a:srgbClr val="002060"/>
                </a:solidFill>
                <a:latin typeface="Aptos"/>
                <a:ea typeface="Aptos"/>
                <a:cs typeface="Aptos"/>
              </a:rPr>
              <a:t>3</a:t>
            </a:r>
            <a:r>
              <a:rPr sz="1650" b="1" dirty="0">
                <a:solidFill>
                  <a:srgbClr val="002060"/>
                </a:solidFill>
                <a:latin typeface="Aptos"/>
                <a:ea typeface="Aptos"/>
                <a:cs typeface="Aptos"/>
              </a:rPr>
              <a:t>, we will deliver</a:t>
            </a:r>
            <a:r>
              <a:rPr lang="en-US" sz="1650" b="1" dirty="0">
                <a:solidFill>
                  <a:srgbClr val="002060"/>
                </a:solidFill>
                <a:latin typeface="Aptos"/>
                <a:ea typeface="Aptos"/>
                <a:cs typeface="Aptos"/>
              </a:rPr>
              <a:t>:</a:t>
            </a:r>
            <a:endParaRPr sz="1650" b="1" dirty="0">
              <a:solidFill>
                <a:srgbClr val="00206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9A21B-350E-8DB0-F6D6-B3C8055FFF1F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47434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36779"/>
                </a:solidFill>
                <a:latin typeface="Aptos"/>
                <a:ea typeface="Aptos"/>
                <a:cs typeface="Aptos"/>
              </a:defRPr>
            </a:pPr>
            <a:endParaRPr sz="1275" b="0" dirty="0">
              <a:solidFill>
                <a:srgbClr val="53677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2BEDEF-D27A-86E9-D12B-464F1F83AAC4}"/>
              </a:ext>
            </a:extLst>
          </p:cNvPr>
          <p:cNvSpPr txBox="1"/>
          <p:nvPr/>
        </p:nvSpPr>
        <p:spPr>
          <a:xfrm>
            <a:off x="860156" y="2456481"/>
            <a:ext cx="938398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License Plate Recognition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license plate extraction, OpenCV-based image preprocessing, OCR, and plate text validation.</a:t>
            </a:r>
            <a:br>
              <a:rPr lang="en-I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Speed Estimation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 vehicle speed using vehicle tracking information, position changes across consecutive frames, and time-based calculations.</a:t>
            </a:r>
            <a:br>
              <a:rPr lang="en-I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Violation Detection &amp; Fine Calculation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configurable speed limits to identify </a:t>
            </a:r>
            <a:r>
              <a:rPr lang="en-IN" sz="16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overspeeding</a:t>
            </a:r>
            <a:r>
              <a:rPr lang="en-I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vehicles and generate rule-based fine details.</a:t>
            </a:r>
            <a:br>
              <a:rPr lang="en-I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Integration with Vehicle Detection &amp; Tracking Module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OCR, speed estimation, and violation detection modules with Member 1's YOLO-based vehicle detection and tracking output for testing the combined computer vision pipeline.</a:t>
            </a:r>
          </a:p>
        </p:txBody>
      </p:sp>
    </p:spTree>
    <p:extLst>
      <p:ext uri="{BB962C8B-B14F-4D97-AF65-F5344CB8AC3E}">
        <p14:creationId xmlns:p14="http://schemas.microsoft.com/office/powerpoint/2010/main" val="523750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932</Words>
  <Application>Microsoft Office PowerPoint</Application>
  <PresentationFormat>Widescreen</PresentationFormat>
  <Paragraphs>125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kumar</dc:creator>
  <cp:lastModifiedBy>Mrithika Kumar</cp:lastModifiedBy>
  <cp:revision>6</cp:revision>
  <dcterms:created xsi:type="dcterms:W3CDTF">2026-08-13T15:00:49Z</dcterms:created>
  <dcterms:modified xsi:type="dcterms:W3CDTF">2026-08-14T09:34:07Z</dcterms:modified>
</cp:coreProperties>
</file>